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9144000"/>
          </a:xfrm>
          <a:prstGeom prst="rect">
            <a:avLst/>
          </a:prstGeom>
          <a:solidFill>
            <a:srgbClr val="FF4F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PERSONAL · AI · MULTI-AGENT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0" y="5486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01 / 10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 AI agents.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personal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40080" y="49377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0" b="1" i="1" dirty="0">
                <a:solidFill>
                  <a:srgbClr val="FF4F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assistant.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640080" y="667512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C9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Mistral AI + LangChain.</a:t>
            </a:r>
            <a:endParaRPr lang="en-US" sz="19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C9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 assistant that routes you to the right specialist — automatically.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0080" y="8549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@your.handle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0" y="85496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4F2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swipe to meet the team →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9144000"/>
          </a:xfrm>
          <a:prstGeom prst="rect">
            <a:avLst/>
          </a:prstGeom>
          <a:solidFill>
            <a:srgbClr val="FF4F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757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AGENT ·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5029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B757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02 / 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201168" cy="201168"/>
          </a:xfrm>
          <a:prstGeom prst="rect">
            <a:avLst/>
          </a:prstGeom>
          <a:solidFill>
            <a:srgbClr val="FF4F2E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188720"/>
            <a:ext cx="201168" cy="201168"/>
          </a:xfrm>
          <a:prstGeom prst="rect">
            <a:avLst/>
          </a:prstGeom>
          <a:solidFill>
            <a:srgbClr val="CFC6B7"/>
          </a:solidFill>
          <a:ln/>
        </p:spPr>
      </p:sp>
      <p:sp>
        <p:nvSpPr>
          <p:cNvPr id="7" name="Shape 5"/>
          <p:cNvSpPr/>
          <p:nvPr/>
        </p:nvSpPr>
        <p:spPr>
          <a:xfrm>
            <a:off x="1261872" y="1188720"/>
            <a:ext cx="201168" cy="201168"/>
          </a:xfrm>
          <a:prstGeom prst="rect">
            <a:avLst/>
          </a:prstGeom>
          <a:solidFill>
            <a:srgbClr val="CFC6B7"/>
          </a:solidFill>
          <a:ln/>
        </p:spPr>
      </p:sp>
      <p:sp>
        <p:nvSpPr>
          <p:cNvPr id="8" name="Shape 6"/>
          <p:cNvSpPr/>
          <p:nvPr/>
        </p:nvSpPr>
        <p:spPr>
          <a:xfrm>
            <a:off x="1572768" y="1188720"/>
            <a:ext cx="201168" cy="201168"/>
          </a:xfrm>
          <a:prstGeom prst="rect">
            <a:avLst/>
          </a:prstGeom>
          <a:solidFill>
            <a:srgbClr val="CFC6B7"/>
          </a:solidFill>
          <a:ln/>
        </p:spPr>
      </p:sp>
      <p:sp>
        <p:nvSpPr>
          <p:cNvPr id="9" name="Shape 7"/>
          <p:cNvSpPr/>
          <p:nvPr/>
        </p:nvSpPr>
        <p:spPr>
          <a:xfrm>
            <a:off x="1883664" y="1188720"/>
            <a:ext cx="201168" cy="201168"/>
          </a:xfrm>
          <a:prstGeom prst="rect">
            <a:avLst/>
          </a:prstGeom>
          <a:solidFill>
            <a:srgbClr val="CFC6B7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1188720"/>
            <a:ext cx="201168" cy="201168"/>
          </a:xfrm>
          <a:prstGeom prst="rect">
            <a:avLst/>
          </a:prstGeom>
          <a:solidFill>
            <a:srgbClr val="CFC6B7"/>
          </a:solidFill>
          <a:ln/>
        </p:spPr>
      </p:sp>
      <p:sp>
        <p:nvSpPr>
          <p:cNvPr id="11" name="Shape 9"/>
          <p:cNvSpPr/>
          <p:nvPr/>
        </p:nvSpPr>
        <p:spPr>
          <a:xfrm>
            <a:off x="2505456" y="1188720"/>
            <a:ext cx="201168" cy="201168"/>
          </a:xfrm>
          <a:prstGeom prst="rect">
            <a:avLst/>
          </a:prstGeom>
          <a:solidFill>
            <a:srgbClr val="CFC6B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F2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THE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28600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0" b="1" dirty="0">
                <a:solidFill>
                  <a:srgbClr val="0F0F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Task</a:t>
            </a:r>
            <a:endParaRPr lang="en-US" sz="10000" dirty="0"/>
          </a:p>
        </p:txBody>
      </p:sp>
      <p:sp>
        <p:nvSpPr>
          <p:cNvPr id="14" name="Text 12"/>
          <p:cNvSpPr/>
          <p:nvPr/>
        </p:nvSpPr>
        <p:spPr>
          <a:xfrm>
            <a:off x="640080" y="3840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B757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 agent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" y="45720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4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to-do list, but you just talk to it.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" y="5349240"/>
            <a:ext cx="7863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complete, update, or delete tasks with plain language. No clicking, no menus — the agent figures out what you mean and updates the JSON store for you.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7086600"/>
            <a:ext cx="7863840" cy="118872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7178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F2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TRY SAYING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7498080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1E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&gt; remind me to send the invoice by friday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8549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757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@your.handle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85496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4F2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swipe →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9144000"/>
          </a:xfrm>
          <a:prstGeom prst="rect">
            <a:avLst/>
          </a:prstGeom>
          <a:solidFill>
            <a:srgbClr val="FF4F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757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AGENT ·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5029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B757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03 / 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201168" cy="201168"/>
          </a:xfrm>
          <a:prstGeom prst="rect">
            <a:avLst/>
          </a:prstGeom>
          <a:solidFill>
            <a:srgbClr val="CFC6B7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188720"/>
            <a:ext cx="201168" cy="201168"/>
          </a:xfrm>
          <a:prstGeom prst="rect">
            <a:avLst/>
          </a:prstGeom>
          <a:solidFill>
            <a:srgbClr val="FF4F2E"/>
          </a:solidFill>
          <a:ln/>
        </p:spPr>
      </p:sp>
      <p:sp>
        <p:nvSpPr>
          <p:cNvPr id="7" name="Shape 5"/>
          <p:cNvSpPr/>
          <p:nvPr/>
        </p:nvSpPr>
        <p:spPr>
          <a:xfrm>
            <a:off x="1261872" y="1188720"/>
            <a:ext cx="201168" cy="201168"/>
          </a:xfrm>
          <a:prstGeom prst="rect">
            <a:avLst/>
          </a:prstGeom>
          <a:solidFill>
            <a:srgbClr val="CFC6B7"/>
          </a:solidFill>
          <a:ln/>
        </p:spPr>
      </p:sp>
      <p:sp>
        <p:nvSpPr>
          <p:cNvPr id="8" name="Shape 6"/>
          <p:cNvSpPr/>
          <p:nvPr/>
        </p:nvSpPr>
        <p:spPr>
          <a:xfrm>
            <a:off x="1572768" y="1188720"/>
            <a:ext cx="201168" cy="201168"/>
          </a:xfrm>
          <a:prstGeom prst="rect">
            <a:avLst/>
          </a:prstGeom>
          <a:solidFill>
            <a:srgbClr val="CFC6B7"/>
          </a:solidFill>
          <a:ln/>
        </p:spPr>
      </p:sp>
      <p:sp>
        <p:nvSpPr>
          <p:cNvPr id="9" name="Shape 7"/>
          <p:cNvSpPr/>
          <p:nvPr/>
        </p:nvSpPr>
        <p:spPr>
          <a:xfrm>
            <a:off x="1883664" y="1188720"/>
            <a:ext cx="201168" cy="201168"/>
          </a:xfrm>
          <a:prstGeom prst="rect">
            <a:avLst/>
          </a:prstGeom>
          <a:solidFill>
            <a:srgbClr val="CFC6B7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1188720"/>
            <a:ext cx="201168" cy="201168"/>
          </a:xfrm>
          <a:prstGeom prst="rect">
            <a:avLst/>
          </a:prstGeom>
          <a:solidFill>
            <a:srgbClr val="CFC6B7"/>
          </a:solidFill>
          <a:ln/>
        </p:spPr>
      </p:sp>
      <p:sp>
        <p:nvSpPr>
          <p:cNvPr id="11" name="Shape 9"/>
          <p:cNvSpPr/>
          <p:nvPr/>
        </p:nvSpPr>
        <p:spPr>
          <a:xfrm>
            <a:off x="2505456" y="1188720"/>
            <a:ext cx="201168" cy="201168"/>
          </a:xfrm>
          <a:prstGeom prst="rect">
            <a:avLst/>
          </a:prstGeom>
          <a:solidFill>
            <a:srgbClr val="CFC6B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F2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THE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28600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0" b="1" dirty="0">
                <a:solidFill>
                  <a:srgbClr val="0F0F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Notes</a:t>
            </a:r>
            <a:endParaRPr lang="en-US" sz="10000" dirty="0"/>
          </a:p>
        </p:txBody>
      </p:sp>
      <p:sp>
        <p:nvSpPr>
          <p:cNvPr id="14" name="Text 12"/>
          <p:cNvSpPr/>
          <p:nvPr/>
        </p:nvSpPr>
        <p:spPr>
          <a:xfrm>
            <a:off x="640080" y="3840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B757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 agent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" y="45720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4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ideas. Search them later. Read the web for you.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" y="5349240"/>
            <a:ext cx="7863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notes, search across them, or paste a URL — the agent fetches the page, summarizes it, and files the summary back in your notes. A second brain, not a dump.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7086600"/>
            <a:ext cx="7863840" cy="118872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7178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F2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TRY SAYING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7498080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1E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&gt; summarize that article and save it to notes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8549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757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@your.handle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85496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4F2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swipe →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9144000"/>
          </a:xfrm>
          <a:prstGeom prst="rect">
            <a:avLst/>
          </a:prstGeom>
          <a:solidFill>
            <a:srgbClr val="FF4F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757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AGENT ·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5029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B757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04 / 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201168" cy="201168"/>
          </a:xfrm>
          <a:prstGeom prst="rect">
            <a:avLst/>
          </a:prstGeom>
          <a:solidFill>
            <a:srgbClr val="CFC6B7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188720"/>
            <a:ext cx="201168" cy="201168"/>
          </a:xfrm>
          <a:prstGeom prst="rect">
            <a:avLst/>
          </a:prstGeom>
          <a:solidFill>
            <a:srgbClr val="CFC6B7"/>
          </a:solidFill>
          <a:ln/>
        </p:spPr>
      </p:sp>
      <p:sp>
        <p:nvSpPr>
          <p:cNvPr id="7" name="Shape 5"/>
          <p:cNvSpPr/>
          <p:nvPr/>
        </p:nvSpPr>
        <p:spPr>
          <a:xfrm>
            <a:off x="1261872" y="1188720"/>
            <a:ext cx="201168" cy="201168"/>
          </a:xfrm>
          <a:prstGeom prst="rect">
            <a:avLst/>
          </a:prstGeom>
          <a:solidFill>
            <a:srgbClr val="FF4F2E"/>
          </a:solidFill>
          <a:ln/>
        </p:spPr>
      </p:sp>
      <p:sp>
        <p:nvSpPr>
          <p:cNvPr id="8" name="Shape 6"/>
          <p:cNvSpPr/>
          <p:nvPr/>
        </p:nvSpPr>
        <p:spPr>
          <a:xfrm>
            <a:off x="1572768" y="1188720"/>
            <a:ext cx="201168" cy="201168"/>
          </a:xfrm>
          <a:prstGeom prst="rect">
            <a:avLst/>
          </a:prstGeom>
          <a:solidFill>
            <a:srgbClr val="CFC6B7"/>
          </a:solidFill>
          <a:ln/>
        </p:spPr>
      </p:sp>
      <p:sp>
        <p:nvSpPr>
          <p:cNvPr id="9" name="Shape 7"/>
          <p:cNvSpPr/>
          <p:nvPr/>
        </p:nvSpPr>
        <p:spPr>
          <a:xfrm>
            <a:off x="1883664" y="1188720"/>
            <a:ext cx="201168" cy="201168"/>
          </a:xfrm>
          <a:prstGeom prst="rect">
            <a:avLst/>
          </a:prstGeom>
          <a:solidFill>
            <a:srgbClr val="CFC6B7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1188720"/>
            <a:ext cx="201168" cy="201168"/>
          </a:xfrm>
          <a:prstGeom prst="rect">
            <a:avLst/>
          </a:prstGeom>
          <a:solidFill>
            <a:srgbClr val="CFC6B7"/>
          </a:solidFill>
          <a:ln/>
        </p:spPr>
      </p:sp>
      <p:sp>
        <p:nvSpPr>
          <p:cNvPr id="11" name="Shape 9"/>
          <p:cNvSpPr/>
          <p:nvPr/>
        </p:nvSpPr>
        <p:spPr>
          <a:xfrm>
            <a:off x="2505456" y="1188720"/>
            <a:ext cx="201168" cy="201168"/>
          </a:xfrm>
          <a:prstGeom prst="rect">
            <a:avLst/>
          </a:prstGeom>
          <a:solidFill>
            <a:srgbClr val="CFC6B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F2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THE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28600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0" b="1" dirty="0">
                <a:solidFill>
                  <a:srgbClr val="0F0F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News</a:t>
            </a:r>
            <a:endParaRPr lang="en-US" sz="10000" dirty="0"/>
          </a:p>
        </p:txBody>
      </p:sp>
      <p:sp>
        <p:nvSpPr>
          <p:cNvPr id="14" name="Text 12"/>
          <p:cNvSpPr/>
          <p:nvPr/>
        </p:nvSpPr>
        <p:spPr>
          <a:xfrm>
            <a:off x="640080" y="3840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B757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 agent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" y="45720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4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 in the last 24 hours — on your topics.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" y="5349240"/>
            <a:ext cx="7863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DuckDuckGo's recency filter, the news agent pulls fresh results from the past day so your briefings never get stale. Great for morning catch-ups.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7086600"/>
            <a:ext cx="7863840" cy="118872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7178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F2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TRY SAYING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7498080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1E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&gt; brief me on AI startup funding from yesterday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8549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757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@your.handle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85496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4F2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swipe →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9144000"/>
          </a:xfrm>
          <a:prstGeom prst="rect">
            <a:avLst/>
          </a:prstGeom>
          <a:solidFill>
            <a:srgbClr val="FF4F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757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AGENT ·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5029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B757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05 / 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201168" cy="201168"/>
          </a:xfrm>
          <a:prstGeom prst="rect">
            <a:avLst/>
          </a:prstGeom>
          <a:solidFill>
            <a:srgbClr val="CFC6B7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188720"/>
            <a:ext cx="201168" cy="201168"/>
          </a:xfrm>
          <a:prstGeom prst="rect">
            <a:avLst/>
          </a:prstGeom>
          <a:solidFill>
            <a:srgbClr val="CFC6B7"/>
          </a:solidFill>
          <a:ln/>
        </p:spPr>
      </p:sp>
      <p:sp>
        <p:nvSpPr>
          <p:cNvPr id="7" name="Shape 5"/>
          <p:cNvSpPr/>
          <p:nvPr/>
        </p:nvSpPr>
        <p:spPr>
          <a:xfrm>
            <a:off x="1261872" y="1188720"/>
            <a:ext cx="201168" cy="201168"/>
          </a:xfrm>
          <a:prstGeom prst="rect">
            <a:avLst/>
          </a:prstGeom>
          <a:solidFill>
            <a:srgbClr val="CFC6B7"/>
          </a:solidFill>
          <a:ln/>
        </p:spPr>
      </p:sp>
      <p:sp>
        <p:nvSpPr>
          <p:cNvPr id="8" name="Shape 6"/>
          <p:cNvSpPr/>
          <p:nvPr/>
        </p:nvSpPr>
        <p:spPr>
          <a:xfrm>
            <a:off x="1572768" y="1188720"/>
            <a:ext cx="201168" cy="201168"/>
          </a:xfrm>
          <a:prstGeom prst="rect">
            <a:avLst/>
          </a:prstGeom>
          <a:solidFill>
            <a:srgbClr val="FF4F2E"/>
          </a:solidFill>
          <a:ln/>
        </p:spPr>
      </p:sp>
      <p:sp>
        <p:nvSpPr>
          <p:cNvPr id="9" name="Shape 7"/>
          <p:cNvSpPr/>
          <p:nvPr/>
        </p:nvSpPr>
        <p:spPr>
          <a:xfrm>
            <a:off x="1883664" y="1188720"/>
            <a:ext cx="201168" cy="201168"/>
          </a:xfrm>
          <a:prstGeom prst="rect">
            <a:avLst/>
          </a:prstGeom>
          <a:solidFill>
            <a:srgbClr val="CFC6B7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1188720"/>
            <a:ext cx="201168" cy="201168"/>
          </a:xfrm>
          <a:prstGeom prst="rect">
            <a:avLst/>
          </a:prstGeom>
          <a:solidFill>
            <a:srgbClr val="CFC6B7"/>
          </a:solidFill>
          <a:ln/>
        </p:spPr>
      </p:sp>
      <p:sp>
        <p:nvSpPr>
          <p:cNvPr id="11" name="Shape 9"/>
          <p:cNvSpPr/>
          <p:nvPr/>
        </p:nvSpPr>
        <p:spPr>
          <a:xfrm>
            <a:off x="2505456" y="1188720"/>
            <a:ext cx="201168" cy="201168"/>
          </a:xfrm>
          <a:prstGeom prst="rect">
            <a:avLst/>
          </a:prstGeom>
          <a:solidFill>
            <a:srgbClr val="CFC6B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F2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THE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28600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0" b="1" dirty="0">
                <a:solidFill>
                  <a:srgbClr val="0F0F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Coding</a:t>
            </a:r>
            <a:endParaRPr lang="en-US" sz="10000" dirty="0"/>
          </a:p>
        </p:txBody>
      </p:sp>
      <p:sp>
        <p:nvSpPr>
          <p:cNvPr id="14" name="Text 12"/>
          <p:cNvSpPr/>
          <p:nvPr/>
        </p:nvSpPr>
        <p:spPr>
          <a:xfrm>
            <a:off x="640080" y="3840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B757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 agent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" y="45720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4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mentor that searches docs before answering.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" y="5349240"/>
            <a:ext cx="7863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anything from Python syntax to system design. The coding agent reasons with mistral-large and pulls live documentation when it isn't 100% sure — no hallucinated APIs.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7086600"/>
            <a:ext cx="7863840" cy="118872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7178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F2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TRY SAYING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7498080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1E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&gt; how do I stream tokens from a langchain agent?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8549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757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@your.handle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85496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4F2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swipe →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9144000"/>
          </a:xfrm>
          <a:prstGeom prst="rect">
            <a:avLst/>
          </a:prstGeom>
          <a:solidFill>
            <a:srgbClr val="FF4F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757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AGENT ·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5029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B757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06 / 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201168" cy="201168"/>
          </a:xfrm>
          <a:prstGeom prst="rect">
            <a:avLst/>
          </a:prstGeom>
          <a:solidFill>
            <a:srgbClr val="CFC6B7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188720"/>
            <a:ext cx="201168" cy="201168"/>
          </a:xfrm>
          <a:prstGeom prst="rect">
            <a:avLst/>
          </a:prstGeom>
          <a:solidFill>
            <a:srgbClr val="CFC6B7"/>
          </a:solidFill>
          <a:ln/>
        </p:spPr>
      </p:sp>
      <p:sp>
        <p:nvSpPr>
          <p:cNvPr id="7" name="Shape 5"/>
          <p:cNvSpPr/>
          <p:nvPr/>
        </p:nvSpPr>
        <p:spPr>
          <a:xfrm>
            <a:off x="1261872" y="1188720"/>
            <a:ext cx="201168" cy="201168"/>
          </a:xfrm>
          <a:prstGeom prst="rect">
            <a:avLst/>
          </a:prstGeom>
          <a:solidFill>
            <a:srgbClr val="CFC6B7"/>
          </a:solidFill>
          <a:ln/>
        </p:spPr>
      </p:sp>
      <p:sp>
        <p:nvSpPr>
          <p:cNvPr id="8" name="Shape 6"/>
          <p:cNvSpPr/>
          <p:nvPr/>
        </p:nvSpPr>
        <p:spPr>
          <a:xfrm>
            <a:off x="1572768" y="1188720"/>
            <a:ext cx="201168" cy="201168"/>
          </a:xfrm>
          <a:prstGeom prst="rect">
            <a:avLst/>
          </a:prstGeom>
          <a:solidFill>
            <a:srgbClr val="CFC6B7"/>
          </a:solidFill>
          <a:ln/>
        </p:spPr>
      </p:sp>
      <p:sp>
        <p:nvSpPr>
          <p:cNvPr id="9" name="Shape 7"/>
          <p:cNvSpPr/>
          <p:nvPr/>
        </p:nvSpPr>
        <p:spPr>
          <a:xfrm>
            <a:off x="1883664" y="1188720"/>
            <a:ext cx="201168" cy="201168"/>
          </a:xfrm>
          <a:prstGeom prst="rect">
            <a:avLst/>
          </a:prstGeom>
          <a:solidFill>
            <a:srgbClr val="FF4F2E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1188720"/>
            <a:ext cx="201168" cy="201168"/>
          </a:xfrm>
          <a:prstGeom prst="rect">
            <a:avLst/>
          </a:prstGeom>
          <a:solidFill>
            <a:srgbClr val="CFC6B7"/>
          </a:solidFill>
          <a:ln/>
        </p:spPr>
      </p:sp>
      <p:sp>
        <p:nvSpPr>
          <p:cNvPr id="11" name="Shape 9"/>
          <p:cNvSpPr/>
          <p:nvPr/>
        </p:nvSpPr>
        <p:spPr>
          <a:xfrm>
            <a:off x="2505456" y="1188720"/>
            <a:ext cx="201168" cy="201168"/>
          </a:xfrm>
          <a:prstGeom prst="rect">
            <a:avLst/>
          </a:prstGeom>
          <a:solidFill>
            <a:srgbClr val="CFC6B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F2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THE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28600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0" b="1" dirty="0">
                <a:solidFill>
                  <a:srgbClr val="0F0F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Schedule</a:t>
            </a:r>
            <a:endParaRPr lang="en-US" sz="10000" dirty="0"/>
          </a:p>
        </p:txBody>
      </p:sp>
      <p:sp>
        <p:nvSpPr>
          <p:cNvPr id="14" name="Text 12"/>
          <p:cNvSpPr/>
          <p:nvPr/>
        </p:nvSpPr>
        <p:spPr>
          <a:xfrm>
            <a:off x="640080" y="3840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B757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 agent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" y="45720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4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Calendar, without opening Google Calendar.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" y="5349240"/>
            <a:ext cx="7863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via OAuth. List, create, update, or delete events with natural language. One-time setup with credentials.json — after that, just talk to your day.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7086600"/>
            <a:ext cx="7863840" cy="118872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7178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F2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TRY SAYING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7498080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1E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&gt; book a 1-on-1 with Andi friday 3pm for 30 min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8549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757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@your.handle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85496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4F2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swipe →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9144000"/>
          </a:xfrm>
          <a:prstGeom prst="rect">
            <a:avLst/>
          </a:prstGeom>
          <a:solidFill>
            <a:srgbClr val="FF4F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757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AGENT ·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5029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B757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07 / 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201168" cy="201168"/>
          </a:xfrm>
          <a:prstGeom prst="rect">
            <a:avLst/>
          </a:prstGeom>
          <a:solidFill>
            <a:srgbClr val="CFC6B7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188720"/>
            <a:ext cx="201168" cy="201168"/>
          </a:xfrm>
          <a:prstGeom prst="rect">
            <a:avLst/>
          </a:prstGeom>
          <a:solidFill>
            <a:srgbClr val="CFC6B7"/>
          </a:solidFill>
          <a:ln/>
        </p:spPr>
      </p:sp>
      <p:sp>
        <p:nvSpPr>
          <p:cNvPr id="7" name="Shape 5"/>
          <p:cNvSpPr/>
          <p:nvPr/>
        </p:nvSpPr>
        <p:spPr>
          <a:xfrm>
            <a:off x="1261872" y="1188720"/>
            <a:ext cx="201168" cy="201168"/>
          </a:xfrm>
          <a:prstGeom prst="rect">
            <a:avLst/>
          </a:prstGeom>
          <a:solidFill>
            <a:srgbClr val="CFC6B7"/>
          </a:solidFill>
          <a:ln/>
        </p:spPr>
      </p:sp>
      <p:sp>
        <p:nvSpPr>
          <p:cNvPr id="8" name="Shape 6"/>
          <p:cNvSpPr/>
          <p:nvPr/>
        </p:nvSpPr>
        <p:spPr>
          <a:xfrm>
            <a:off x="1572768" y="1188720"/>
            <a:ext cx="201168" cy="201168"/>
          </a:xfrm>
          <a:prstGeom prst="rect">
            <a:avLst/>
          </a:prstGeom>
          <a:solidFill>
            <a:srgbClr val="CFC6B7"/>
          </a:solidFill>
          <a:ln/>
        </p:spPr>
      </p:sp>
      <p:sp>
        <p:nvSpPr>
          <p:cNvPr id="9" name="Shape 7"/>
          <p:cNvSpPr/>
          <p:nvPr/>
        </p:nvSpPr>
        <p:spPr>
          <a:xfrm>
            <a:off x="1883664" y="1188720"/>
            <a:ext cx="201168" cy="201168"/>
          </a:xfrm>
          <a:prstGeom prst="rect">
            <a:avLst/>
          </a:prstGeom>
          <a:solidFill>
            <a:srgbClr val="CFC6B7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1188720"/>
            <a:ext cx="201168" cy="201168"/>
          </a:xfrm>
          <a:prstGeom prst="rect">
            <a:avLst/>
          </a:prstGeom>
          <a:solidFill>
            <a:srgbClr val="FF4F2E"/>
          </a:solidFill>
          <a:ln/>
        </p:spPr>
      </p:sp>
      <p:sp>
        <p:nvSpPr>
          <p:cNvPr id="11" name="Shape 9"/>
          <p:cNvSpPr/>
          <p:nvPr/>
        </p:nvSpPr>
        <p:spPr>
          <a:xfrm>
            <a:off x="2505456" y="1188720"/>
            <a:ext cx="201168" cy="201168"/>
          </a:xfrm>
          <a:prstGeom prst="rect">
            <a:avLst/>
          </a:prstGeom>
          <a:solidFill>
            <a:srgbClr val="CFC6B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F2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THE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28600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0" b="1" dirty="0">
                <a:solidFill>
                  <a:srgbClr val="0F0F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Budget</a:t>
            </a:r>
            <a:endParaRPr lang="en-US" sz="10000" dirty="0"/>
          </a:p>
        </p:txBody>
      </p:sp>
      <p:sp>
        <p:nvSpPr>
          <p:cNvPr id="14" name="Text 12"/>
          <p:cNvSpPr/>
          <p:nvPr/>
        </p:nvSpPr>
        <p:spPr>
          <a:xfrm>
            <a:off x="640080" y="3840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B757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 agent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" y="45720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4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income and expenses. Know where the money went.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" y="5349240"/>
            <a:ext cx="7863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spend, log income, ask for your balance, request a monthly summary. Data lives locally in budget.json so you stay in control of your numbers.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7086600"/>
            <a:ext cx="7863840" cy="118872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7178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F2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TRY SAYING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7498080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1E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&gt; log 47k for lunch + give me april summary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8549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757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@your.handle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85496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4F2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swipe →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9144000"/>
          </a:xfrm>
          <a:prstGeom prst="rect">
            <a:avLst/>
          </a:prstGeom>
          <a:solidFill>
            <a:srgbClr val="FF4F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757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AGENT · 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5029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B757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08 / 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201168" cy="201168"/>
          </a:xfrm>
          <a:prstGeom prst="rect">
            <a:avLst/>
          </a:prstGeom>
          <a:solidFill>
            <a:srgbClr val="CFC6B7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188720"/>
            <a:ext cx="201168" cy="201168"/>
          </a:xfrm>
          <a:prstGeom prst="rect">
            <a:avLst/>
          </a:prstGeom>
          <a:solidFill>
            <a:srgbClr val="CFC6B7"/>
          </a:solidFill>
          <a:ln/>
        </p:spPr>
      </p:sp>
      <p:sp>
        <p:nvSpPr>
          <p:cNvPr id="7" name="Shape 5"/>
          <p:cNvSpPr/>
          <p:nvPr/>
        </p:nvSpPr>
        <p:spPr>
          <a:xfrm>
            <a:off x="1261872" y="1188720"/>
            <a:ext cx="201168" cy="201168"/>
          </a:xfrm>
          <a:prstGeom prst="rect">
            <a:avLst/>
          </a:prstGeom>
          <a:solidFill>
            <a:srgbClr val="CFC6B7"/>
          </a:solidFill>
          <a:ln/>
        </p:spPr>
      </p:sp>
      <p:sp>
        <p:nvSpPr>
          <p:cNvPr id="8" name="Shape 6"/>
          <p:cNvSpPr/>
          <p:nvPr/>
        </p:nvSpPr>
        <p:spPr>
          <a:xfrm>
            <a:off x="1572768" y="1188720"/>
            <a:ext cx="201168" cy="201168"/>
          </a:xfrm>
          <a:prstGeom prst="rect">
            <a:avLst/>
          </a:prstGeom>
          <a:solidFill>
            <a:srgbClr val="CFC6B7"/>
          </a:solidFill>
          <a:ln/>
        </p:spPr>
      </p:sp>
      <p:sp>
        <p:nvSpPr>
          <p:cNvPr id="9" name="Shape 7"/>
          <p:cNvSpPr/>
          <p:nvPr/>
        </p:nvSpPr>
        <p:spPr>
          <a:xfrm>
            <a:off x="1883664" y="1188720"/>
            <a:ext cx="201168" cy="201168"/>
          </a:xfrm>
          <a:prstGeom prst="rect">
            <a:avLst/>
          </a:prstGeom>
          <a:solidFill>
            <a:srgbClr val="CFC6B7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1188720"/>
            <a:ext cx="201168" cy="201168"/>
          </a:xfrm>
          <a:prstGeom prst="rect">
            <a:avLst/>
          </a:prstGeom>
          <a:solidFill>
            <a:srgbClr val="CFC6B7"/>
          </a:solidFill>
          <a:ln/>
        </p:spPr>
      </p:sp>
      <p:sp>
        <p:nvSpPr>
          <p:cNvPr id="11" name="Shape 9"/>
          <p:cNvSpPr/>
          <p:nvPr/>
        </p:nvSpPr>
        <p:spPr>
          <a:xfrm>
            <a:off x="2505456" y="1188720"/>
            <a:ext cx="201168" cy="201168"/>
          </a:xfrm>
          <a:prstGeom prst="rect">
            <a:avLst/>
          </a:prstGeom>
          <a:solidFill>
            <a:srgbClr val="FF4F2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F2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THE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28600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0" b="1" dirty="0">
                <a:solidFill>
                  <a:srgbClr val="0F0F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</a:t>
            </a:r>
            <a:endParaRPr lang="en-US" sz="10000" dirty="0"/>
          </a:p>
        </p:txBody>
      </p:sp>
      <p:sp>
        <p:nvSpPr>
          <p:cNvPr id="14" name="Text 12"/>
          <p:cNvSpPr/>
          <p:nvPr/>
        </p:nvSpPr>
        <p:spPr>
          <a:xfrm>
            <a:off x="640080" y="3840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B757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 agent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" y="45720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4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autonomous research, end-to-end.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" y="5349240"/>
            <a:ext cx="7863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topic. The research agent does iterative multi-angle searches, fetches and reads pages, synthesizes across sources, and compiles a structured report with citations.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7086600"/>
            <a:ext cx="7863840" cy="118872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7178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F2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TRY SAYING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7498080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1E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&gt; compile a report on small language models in 2026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8549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757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@your.handle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85496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4F2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swipe →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9144000"/>
          </a:xfrm>
          <a:prstGeom prst="rect">
            <a:avLst/>
          </a:prstGeom>
          <a:solidFill>
            <a:srgbClr val="FF4F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757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5029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B757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09 /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F2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UNDER THE HOOD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0F0F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works.</a:t>
            </a:r>
            <a:endParaRPr lang="en-US" sz="6200" dirty="0"/>
          </a:p>
        </p:txBody>
      </p:sp>
      <p:sp>
        <p:nvSpPr>
          <p:cNvPr id="7" name="Shape 5"/>
          <p:cNvSpPr/>
          <p:nvPr/>
        </p:nvSpPr>
        <p:spPr>
          <a:xfrm>
            <a:off x="640080" y="3246120"/>
            <a:ext cx="914400" cy="914400"/>
          </a:xfrm>
          <a:prstGeom prst="ellipse">
            <a:avLst/>
          </a:prstGeom>
          <a:solidFill>
            <a:srgbClr val="FF4F2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246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783080" y="320040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0F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type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83080" y="370332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language. CLI or browser. No commands to memorize.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434840"/>
            <a:ext cx="914400" cy="914400"/>
          </a:xfrm>
          <a:prstGeom prst="ellipse">
            <a:avLst/>
          </a:prstGeom>
          <a:solidFill>
            <a:srgbClr val="FF4F2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4348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783080" y="438912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0F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Router classifies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783080" y="489204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mistral-small-latest reads intent in milliseconds.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5623560"/>
            <a:ext cx="914400" cy="914400"/>
          </a:xfrm>
          <a:prstGeom prst="ellipse">
            <a:avLst/>
          </a:prstGeom>
          <a:solidFill>
            <a:srgbClr val="FF4F2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623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83080" y="557784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0F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Specialist runs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783080" y="608076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matching agent loads, calls its tools, and reasons.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6812280"/>
            <a:ext cx="914400" cy="914400"/>
          </a:xfrm>
          <a:prstGeom prst="ellipse">
            <a:avLst/>
          </a:prstGeom>
          <a:solidFill>
            <a:srgbClr val="FF4F2E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6812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783080" y="676656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0F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get the answer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783080" y="726948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history kept per agent — context survives the session.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8549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757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@your.handle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0" y="85496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4F2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swipe →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9144000"/>
          </a:xfrm>
          <a:prstGeom prst="rect">
            <a:avLst/>
          </a:prstGeom>
          <a:solidFill>
            <a:srgbClr val="FF4F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FORK · BUILD · DEPLOY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0" y="5486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10 / 10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assistant.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0" b="1" i="1" dirty="0">
                <a:solidFill>
                  <a:srgbClr val="FF4F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for you.</a:t>
            </a:r>
            <a:endParaRPr lang="en-US" sz="7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F2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RUN IT YOUR WAY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5303520"/>
            <a:ext cx="3749040" cy="141732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394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F2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CLI MODE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57150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python main.py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6217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A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Terminal-native. Fast.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5303520"/>
            <a:ext cx="3749040" cy="141732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5394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F2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WEB MODE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83480" y="57150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python server.py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83480" y="6217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A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Browser. Anywhere.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71323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Save this post.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40080" y="7635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build your own. The repo is open.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" y="8549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@your.handle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8549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4F2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save · share · build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AI Multi-Agent Assistant</dc:title>
  <dc:subject>PptxGenJS Presentation</dc:subject>
  <dc:creator>PptxGenJS</dc:creator>
  <cp:lastModifiedBy>PptxGenJS</cp:lastModifiedBy>
  <cp:revision>1</cp:revision>
  <dcterms:created xsi:type="dcterms:W3CDTF">2026-04-18T12:09:37Z</dcterms:created>
  <dcterms:modified xsi:type="dcterms:W3CDTF">2026-04-18T12:09:37Z</dcterms:modified>
</cp:coreProperties>
</file>